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c2848d208e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2c2848d208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c2848d208e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2c2848d208e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c2848d208e_2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c2848d208e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74ecfce8_0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74ecfce8_0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74ecfce8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74ecfce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74ecfce8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74ecfce8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74ecfce8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74ecfce8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74ecfce8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74ecfce8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74ecfce8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74ecfce8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74ecfce8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74ecfce8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74ecfce8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74ecfce8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74ecfce8_1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74ecfce8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 rot="10800000">
            <a:off x="0" y="3093235"/>
            <a:ext cx="8458200" cy="71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2" type="body"/>
          </p:nvPr>
        </p:nvSpPr>
        <p:spPr>
          <a:xfrm>
            <a:off x="4656667" y="146190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0" y="4406309"/>
            <a:ext cx="86868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ocs.mongodb.org/manual/reference/glossary/#term-objectid" TargetMode="External"/><Relationship Id="rId4" Type="http://schemas.openxmlformats.org/officeDocument/2006/relationships/hyperlink" Target="http://docs.mongodb.org/manual/reference/glossary/#term-bson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ctrTitle"/>
          </p:nvPr>
        </p:nvSpPr>
        <p:spPr>
          <a:xfrm>
            <a:off x="303900" y="1160422"/>
            <a:ext cx="7772400" cy="7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Droid Sans"/>
                <a:ea typeface="Droid Sans"/>
                <a:cs typeface="Droid Sans"/>
                <a:sym typeface="Droid Sans"/>
              </a:rPr>
              <a:t>An Introduction to</a:t>
            </a:r>
            <a:r>
              <a:rPr lang="en" sz="3000"/>
              <a:t> </a:t>
            </a:r>
            <a:endParaRPr sz="3000"/>
          </a:p>
        </p:txBody>
      </p:sp>
      <p:pic>
        <p:nvPicPr>
          <p:cNvPr id="33" name="Google Shape;3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100" y="2648050"/>
            <a:ext cx="5535400" cy="16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MongoDB ?</a:t>
            </a:r>
            <a:endParaRPr/>
          </a:p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</a:rPr>
              <a:t>-&gt;  </a:t>
            </a:r>
            <a:r>
              <a:rPr lang="en" sz="1700">
                <a:solidFill>
                  <a:srgbClr val="1A1A1A"/>
                </a:solidFill>
              </a:rPr>
              <a:t>MongoDB is a document database with the scalability and flexibility that you want with  the querying and indexing that you need.</a:t>
            </a:r>
            <a:endParaRPr sz="17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A1A1A"/>
                </a:solidFill>
              </a:rPr>
              <a:t>-&gt; NoSQL Database</a:t>
            </a:r>
            <a:endParaRPr sz="170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MongoDB ?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566050" y="1634125"/>
            <a:ext cx="81207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850">
                <a:solidFill>
                  <a:schemeClr val="dk1"/>
                </a:solidFill>
              </a:rPr>
              <a:t>Fully elastic database as a service with built-in best practices</a:t>
            </a:r>
            <a:endParaRPr sz="185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850">
                <a:solidFill>
                  <a:schemeClr val="dk1"/>
                </a:solidFill>
              </a:rPr>
              <a:t>End-to-end security</a:t>
            </a:r>
            <a:endParaRPr sz="185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en" sz="1850">
                <a:solidFill>
                  <a:schemeClr val="dk1"/>
                </a:solidFill>
              </a:rPr>
              <a:t>Management tooling for automation, monitoring, and backup</a:t>
            </a:r>
            <a:endParaRPr sz="1850">
              <a:solidFill>
                <a:schemeClr val="dk1"/>
              </a:solidFill>
            </a:endParaRPr>
          </a:p>
          <a:p>
            <a:pPr indent="-3651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Char char="❏"/>
            </a:pPr>
            <a:r>
              <a:rPr b="1" lang="en" sz="1800">
                <a:solidFill>
                  <a:srgbClr val="5D6C74"/>
                </a:solidFill>
              </a:rPr>
              <a:t>can store data of any structure and modify your schema at any time as you add new features to your applications</a:t>
            </a:r>
            <a:endParaRPr b="1" sz="1800">
              <a:solidFill>
                <a:srgbClr val="5D6C74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D6C74"/>
              </a:buClr>
              <a:buSzPts val="2100"/>
              <a:buChar char="❏"/>
            </a:pPr>
            <a:r>
              <a:rPr lang="en" sz="1800">
                <a:solidFill>
                  <a:srgbClr val="5D6C74"/>
                </a:solidFill>
              </a:rPr>
              <a:t>Non-relational database</a:t>
            </a:r>
            <a:endParaRPr b="1" sz="2100">
              <a:solidFill>
                <a:srgbClr val="5D6C7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4294967295" type="title"/>
          </p:nvPr>
        </p:nvSpPr>
        <p:spPr>
          <a:xfrm>
            <a:off x="457200" y="205977"/>
            <a:ext cx="82296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Couch VS Mongo</a:t>
            </a:r>
            <a:endParaRPr/>
          </a:p>
        </p:txBody>
      </p:sp>
      <p:sp>
        <p:nvSpPr>
          <p:cNvPr id="51" name="Google Shape;51;p11"/>
          <p:cNvSpPr txBox="1"/>
          <p:nvPr/>
        </p:nvSpPr>
        <p:spPr>
          <a:xfrm>
            <a:off x="79900" y="0"/>
            <a:ext cx="6805800" cy="73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       Couch Vs Mongo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1575"/>
            <a:ext cx="8534400" cy="41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Drivers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JavaScript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Python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Ruby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PHP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Perl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Java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Scala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C#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C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C++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Haskell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Erlang</a:t>
            </a:r>
            <a:endParaRPr sz="1400"/>
          </a:p>
        </p:txBody>
      </p:sp>
      <p:sp>
        <p:nvSpPr>
          <p:cNvPr id="59" name="Google Shape;59;p12"/>
          <p:cNvSpPr txBox="1"/>
          <p:nvPr/>
        </p:nvSpPr>
        <p:spPr>
          <a:xfrm>
            <a:off x="2428500" y="4686300"/>
            <a:ext cx="428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Plus numerous 3rd party tools and libraries!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457200" y="205975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 BSON (binary JSON) document</a:t>
            </a:r>
            <a:endParaRPr sz="3600"/>
          </a:p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106200" y="1420000"/>
            <a:ext cx="876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{</a:t>
            </a:r>
            <a:endParaRPr sz="14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"_id" : ObjectId("52832eb59f36fe144eeea8dc"),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"baseprice" : 8.99,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"category" : "toys",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"colors" : [ "red", "green", "cosmic purple"],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"name" : "Cosmic Yo-yo",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"promotions" : [ </a:t>
            </a:r>
            <a:endParaRPr sz="1400"/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{ "coupon" : "XY678", "saleprice" : 7.99, "expires" : ISODate("2013-12-12T00:00:00Z") },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		{ "coupon" : "AB8888", "saleprice" : 7.49, "expires" : ISODate("2014-01-01T00:00:00Z") }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	       ]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}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Database -&gt; Database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Table -&gt; Collection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Record / Row -&gt; Document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Field -&gt; Field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	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428BCA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ObjectId</a:t>
            </a: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 is a 12-byte </a:t>
            </a:r>
            <a:r>
              <a:rPr lang="en" sz="2400">
                <a:solidFill>
                  <a:srgbClr val="428BCA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BSON</a:t>
            </a: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 type, constructed using: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a 4-byte value representing the seconds since the Unix epoch,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a 3-byte machine identifier,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a 2-byte process id, and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a 3-byte counter, starting with a random value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Show with .getTimestamp()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find()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db.products.findOne()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db.products.find()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db.products.find()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db.products.find({ _id : ObjectId("52832eb59f36fe144eeea8dc") })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db.products.find().sort( { baseprice : -1 }).pretty()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db.products.find().limit(1).pretty()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db.products.find().limit(1).skip(1).pretty()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57200" y="12318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db.products.find({ baseprice : { $gt : 4.99 }})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db.products.find({ baseprice : { $lte : 4.99 }})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db.products.find({ promotions : { $lte : 4.99 }})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 { colors : { $in :  ["red"] }})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 { "promotions.coupon" : { $in :  [  "XY678" ] }}).pretty()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db.products.find({ $and : [{ category : "toys"},{ baseprice : { $gt : 4.99 }}]}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Queries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db.products.count()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db.products.find({ baseprice : { $gt : 2.99 }}).count()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db.products.insert({ name : "Juggle-O-rama", baseprice : 11.99 })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db.products.update({ name : "Juggle-O-rama" }, { $set : { category : "toys" }})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db.products.update({ name: “Juggle-O-rama” }, { $set : {  colors : ["silver", "gold"]}})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db.products.update({ name: "Juggle-O-rama" }, { $push : {  colors : "sea foam green"}})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/>
              <a:t>Don’t forget $set!</a:t>
            </a:r>
            <a:endParaRPr b="1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Sharding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875" y="1398450"/>
            <a:ext cx="3910851" cy="374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5251500" y="1620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Collections are split amongst multiple servers by a shard key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Used to scale writes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